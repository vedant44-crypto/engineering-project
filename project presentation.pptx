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5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FC92E-184E-70A0-ACDB-D52D20145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0E6FC-E4DF-D771-238C-99899377E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0BD48-9CB0-B00A-CE0F-BF412606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F4E82-3392-E01E-F17E-D1BBD757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29B0-ED44-EA37-B8D3-EC4D14B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939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28DC-6911-717E-71E8-A9C3BEE7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3578-5683-BD07-4AC7-75A28DB18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056FB-3510-6924-D7FF-FA95EB8B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2D35C-18AE-B8D1-758B-EFCC2058B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2C3A6-4F51-F5F1-0626-ECE7525C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1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BB23-A9E1-4832-43A7-16B4E119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C173D-D2EC-85E0-58AC-2E6B678AC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2B9D8-E07B-2494-07E7-3063EC12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B5E18-831C-0D38-8DD1-95C74CBE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9403D-EA70-C0C5-A682-E97C8B23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9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8F04-A8EB-1DE4-0563-C902A5CD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C0C94-1C0C-DD53-7E81-996EF717C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8CEE3-0BA9-CBD6-D288-152AFC929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8A006-1252-2D39-DBE0-FA610071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4CD72-FD88-F683-8661-5EED4768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06450-1E2A-3E2B-3A29-1AD51071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05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43C2-25FD-BF9C-5388-426A5B3D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6521C-CAB8-AEE7-0AE0-80C3A7B1B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28410-A1D8-01CD-FB93-344F7F02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7D215-D007-FD51-944E-72278E3B5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FD21FC-A0E7-A723-2EB0-91E4F77C7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433D5-5848-58EA-CF29-752D7037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266657-B8B1-9D49-906D-782702CE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FDF2B-8BF5-7DDF-6855-4D062BCBD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7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908E8-D1C2-6AEA-F38D-4FCD2603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1D80A-7A4E-09A3-F689-508DE8239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F8B6D-A57A-8772-5108-A484D06C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29B8C-E5FF-5111-DDD7-2D45ED72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557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21A0E-66C0-C83F-FE4E-295223D1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B62B6-D056-9A24-B68C-ACE70A59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3F3CC-9383-F986-263B-3285CD0C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68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2B1-DD86-E465-5489-26B28B4B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F4429-B55B-A4D9-847B-221CC9E01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FF5F1-E148-2596-A37F-AD686BE7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B51E5-681E-2F4E-FD4A-C782AE8F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E1A9E-4A06-B1B5-9566-B788DEAB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A4284-9EC3-1A8D-C203-6DB7CCC7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5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9747-C818-09FE-6BDF-CC25D552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E7D91-5640-0DD9-5202-5C6739913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CE249-CC51-79CF-B6CB-20DEDBB44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8908-6034-F60A-09CD-5150B7F3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8E909-4971-A91A-DB8E-8FFB7287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EA5F9-F8FB-7EF5-DF02-95EFA0E6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90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3CB9A-7F0A-9FDD-5471-6D6CF262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95BDE-CDEF-8A03-B826-B0AD514D1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674C1-F5C7-3EAF-EDC6-36A8CC53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C0C2B-22AB-F177-6CDB-37AD1536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D975-97F4-82A5-CD0C-3BB7B6C3B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193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58E0E-085E-7667-7F42-324C6C20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A62A8-62A7-B399-72A9-2D7FA7974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61841-6C22-1BFE-8978-E5C00B9B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BFABD-408E-FD4C-CDDA-983088F6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2985-8EC7-4009-1D98-E293935F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62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B633F-DC49-FB8E-F3E0-CEDEFDF0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79E67-D4F2-741A-1136-07AADEC3C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3B0B-E8B5-3509-2CAB-137BB3608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CA1BF-B9B7-40F9-8AE4-10348CA73DED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8C50-D53A-2587-916C-01422B59A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13E68-EBE3-66BC-72EC-253501E68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7E1DB-CA40-4555-B931-9B53CF50A6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5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805213/" TargetMode="External"/><Relationship Id="rId2" Type="http://schemas.openxmlformats.org/officeDocument/2006/relationships/hyperlink" Target="https://ieeexplore.ieee.org/document/8570517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9428945/" TargetMode="External"/><Relationship Id="rId5" Type="http://schemas.openxmlformats.org/officeDocument/2006/relationships/hyperlink" Target="https://ieeexplore.ieee.org/document/8850952/" TargetMode="External"/><Relationship Id="rId4" Type="http://schemas.openxmlformats.org/officeDocument/2006/relationships/hyperlink" Target="https://ieeexplore.ieee.org/document/741969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659F9-BD24-4088-73CA-5C2AEA5A9DAB}"/>
              </a:ext>
            </a:extLst>
          </p:cNvPr>
          <p:cNvSpPr txBox="1"/>
          <p:nvPr/>
        </p:nvSpPr>
        <p:spPr>
          <a:xfrm>
            <a:off x="580104" y="31677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Autonomous Trolly</a:t>
            </a:r>
            <a:endParaRPr lang="en-IN" sz="4800" dirty="0"/>
          </a:p>
        </p:txBody>
      </p:sp>
      <p:pic>
        <p:nvPicPr>
          <p:cNvPr id="1026" name="Picture 2" descr="Autonomous Cart Images - Free Download on Freepik">
            <a:extLst>
              <a:ext uri="{FF2B5EF4-FFF2-40B4-BE49-F238E27FC236}">
                <a16:creationId xmlns:a16="http://schemas.microsoft.com/office/drawing/2014/main" id="{2DF7BF5C-1C1A-6A58-E815-9FF1443AE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81"/>
          <a:stretch>
            <a:fillRect/>
          </a:stretch>
        </p:blipFill>
        <p:spPr bwMode="auto">
          <a:xfrm>
            <a:off x="3483980" y="1573318"/>
            <a:ext cx="8565266" cy="513999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0325AD-46A2-1716-FFAF-DB2DB184F725}"/>
              </a:ext>
            </a:extLst>
          </p:cNvPr>
          <p:cNvSpPr txBox="1"/>
          <p:nvPr/>
        </p:nvSpPr>
        <p:spPr>
          <a:xfrm>
            <a:off x="2635045" y="11011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(With Collision Avoidance Using LiDAR)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68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69DCA0-407C-EE40-0458-2BAFCA863BB6}"/>
              </a:ext>
            </a:extLst>
          </p:cNvPr>
          <p:cNvSpPr txBox="1"/>
          <p:nvPr/>
        </p:nvSpPr>
        <p:spPr>
          <a:xfrm>
            <a:off x="587969" y="398714"/>
            <a:ext cx="3536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Problem Statement:</a:t>
            </a:r>
            <a:endParaRPr lang="en-IN" sz="2400" dirty="0">
              <a:latin typeface="Garamond" panose="020204040303010108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06DF8-2EF0-0D98-10EF-5FACD236CF6A}"/>
              </a:ext>
            </a:extLst>
          </p:cNvPr>
          <p:cNvSpPr txBox="1"/>
          <p:nvPr/>
        </p:nvSpPr>
        <p:spPr>
          <a:xfrm>
            <a:off x="2273546" y="2967335"/>
            <a:ext cx="232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Introduction: 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C5AC7E7-CE48-BD5B-EF40-800092DEF74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10075" y="5166462"/>
            <a:ext cx="61184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B6C3138-5C93-BF29-FEA2-81F8A4F0E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7296" y="941271"/>
            <a:ext cx="7366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Manual trolleys are prone to human error, inefficiency, and collisions.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Need for a smart collision avoidance system that can detect and avoid obstacles in real-time. </a:t>
            </a:r>
            <a:r>
              <a:rPr lang="en-US" altLang="en-US" dirty="0">
                <a:latin typeface="Garamond" panose="02020404030301010803" pitchFamily="18" charset="0"/>
              </a:rPr>
              <a:t>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esigning a low-cost, sensor-based autonomous trolley with predefined path navigation and dynamic obstacle detection.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143A6ACA-BAAA-2AE0-70F3-2D25E5E4A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8091" y="3646981"/>
            <a:ext cx="814045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An autonomous trolley is a mobile robotic system designed to move along a predefined path without human intervention.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To ensure safety and obstacle avoidance, it uses LiDAR sensors for real-time environment sensing.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The goal is to automate material or goods transport efficiently and safely, especially in indoor or campus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24103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309E7F-96C2-7EA7-B63D-CE5572747543}"/>
              </a:ext>
            </a:extLst>
          </p:cNvPr>
          <p:cNvSpPr txBox="1"/>
          <p:nvPr/>
        </p:nvSpPr>
        <p:spPr>
          <a:xfrm>
            <a:off x="835743" y="511278"/>
            <a:ext cx="376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Garamond" panose="02020404030301010803" pitchFamily="18" charset="0"/>
              </a:rPr>
              <a:t>Components &amp; Technologies: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4AFC2-5744-0F76-A06B-B1641F3B879D}"/>
              </a:ext>
            </a:extLst>
          </p:cNvPr>
          <p:cNvSpPr txBox="1"/>
          <p:nvPr/>
        </p:nvSpPr>
        <p:spPr>
          <a:xfrm>
            <a:off x="6096000" y="5112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Garamond" panose="02020404030301010803" pitchFamily="18" charset="0"/>
                <a:ea typeface="PT Serif" pitchFamily="34" charset="-122"/>
                <a:cs typeface="PT Serif" pitchFamily="34" charset="-120"/>
              </a:rPr>
              <a:t>Block Diagram:</a:t>
            </a:r>
            <a:endParaRPr lang="en-IN" sz="1800" b="1" dirty="0">
              <a:latin typeface="Garamond" panose="020204040303010108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3B8345-D731-A3E8-A7F5-3F5F4100F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49" y="965544"/>
            <a:ext cx="6331974" cy="344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Microcontroller: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Sensor: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LiDAR</a:t>
            </a:r>
            <a:r>
              <a:rPr lang="en-US" altLang="en-US" dirty="0">
                <a:latin typeface="Garamond" panose="02020404030301010803" pitchFamily="18" charset="0"/>
              </a:rPr>
              <a:t> (VL53L0X)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Motor Driver: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L298N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Actuators: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DC Motors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Garamond" panose="02020404030301010803" pitchFamily="18" charset="0"/>
              </a:rPr>
              <a:t>Programming Language: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5E0B7C9-568D-BC28-4FF5-DCD204FB2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8" t="34187" r="23196" b="9907"/>
          <a:stretch>
            <a:fillRect/>
          </a:stretch>
        </p:blipFill>
        <p:spPr>
          <a:xfrm>
            <a:off x="5468488" y="1045435"/>
            <a:ext cx="6251563" cy="55480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AB567A-F021-D2A4-911D-CF3B0833AC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5" t="8860" r="28494" b="11587"/>
          <a:stretch/>
        </p:blipFill>
        <p:spPr>
          <a:xfrm>
            <a:off x="3971691" y="4037624"/>
            <a:ext cx="716687" cy="7487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47A93E-10FC-C5F4-8E03-65A793537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165" y="4037625"/>
            <a:ext cx="819977" cy="748749"/>
          </a:xfrm>
          <a:prstGeom prst="rect">
            <a:avLst/>
          </a:prstGeom>
        </p:spPr>
      </p:pic>
      <p:pic>
        <p:nvPicPr>
          <p:cNvPr id="1028" name="Picture 4" descr="ESP8266 - Wikipedia">
            <a:extLst>
              <a:ext uri="{FF2B5EF4-FFF2-40B4-BE49-F238E27FC236}">
                <a16:creationId xmlns:a16="http://schemas.microsoft.com/office/drawing/2014/main" id="{FFE95FFF-E22E-5769-54F5-398214419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578" y="1267299"/>
            <a:ext cx="931450" cy="588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E65C32-D2A5-66C7-6244-27E2764119F2}"/>
              </a:ext>
            </a:extLst>
          </p:cNvPr>
          <p:cNvSpPr txBox="1"/>
          <p:nvPr/>
        </p:nvSpPr>
        <p:spPr>
          <a:xfrm>
            <a:off x="471949" y="4625116"/>
            <a:ext cx="117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Garamond" panose="02020404030301010803" pitchFamily="18" charset="0"/>
                <a:ea typeface="Aptos" panose="020B0004020202020204" pitchFamily="34" charset="0"/>
              </a:rPr>
              <a:t>Battery:</a:t>
            </a:r>
            <a:endParaRPr lang="en-IN" b="1" dirty="0">
              <a:latin typeface="Garamond" panose="02020404030301010803" pitchFamily="18" charset="0"/>
            </a:endParaRPr>
          </a:p>
        </p:txBody>
      </p:sp>
      <p:pic>
        <p:nvPicPr>
          <p:cNvPr id="9" name="Picture 8" descr="6 volt 4.5 Ah Rechargeable Battery AD ...">
            <a:extLst>
              <a:ext uri="{FF2B5EF4-FFF2-40B4-BE49-F238E27FC236}">
                <a16:creationId xmlns:a16="http://schemas.microsoft.com/office/drawing/2014/main" id="{FAC83016-9FE7-0F24-00C1-BE4697187E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116" y="4753298"/>
            <a:ext cx="981462" cy="7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73959E-9F22-CEEE-A030-D22246D3DF91}"/>
              </a:ext>
            </a:extLst>
          </p:cNvPr>
          <p:cNvSpPr txBox="1"/>
          <p:nvPr/>
        </p:nvSpPr>
        <p:spPr>
          <a:xfrm>
            <a:off x="471949" y="5397377"/>
            <a:ext cx="1372264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6985" algn="just">
              <a:lnSpc>
                <a:spcPct val="150000"/>
              </a:lnSpc>
            </a:pPr>
            <a:r>
              <a:rPr lang="en-IN" sz="1800" b="1" kern="100" dirty="0">
                <a:effectLst/>
                <a:latin typeface="Garamond" panose="020204040303010108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Buzzer:</a:t>
            </a:r>
            <a:endParaRPr lang="en-IN" sz="1400" kern="100" dirty="0">
              <a:effectLst/>
              <a:latin typeface="Garamond" panose="020204040303010108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E02852-725A-4B95-46E6-BE31EF9C0A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127" y="5638527"/>
            <a:ext cx="800438" cy="62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80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y ESP8266 wifi module + NodeMcu v3 ...">
            <a:extLst>
              <a:ext uri="{FF2B5EF4-FFF2-40B4-BE49-F238E27FC236}">
                <a16:creationId xmlns:a16="http://schemas.microsoft.com/office/drawing/2014/main" id="{906A7409-94C6-72E5-6E46-22AD5055A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81" y="4709652"/>
            <a:ext cx="2974420" cy="17296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C0AB957-A9E9-452C-49DA-A9D4CF2C5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524" y="70498"/>
            <a:ext cx="449704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aramond" panose="02020404030301010803" pitchFamily="18" charset="0"/>
              </a:rPr>
              <a:t>Microcontroller: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Microcontroller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ESP8266 (by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Espressif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Systems)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Main Feature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Built-in Wi-Fi – enables wireless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data transmission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to server/app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Processor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32-bit Tensilica @ 80–160 MHz – handles lightweight control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Operating Voltage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3.3V – compatible with most sensors and logic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GPIOs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Up to 17 – for interfacing with sensors (LiDAR, IR, motor driver,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Memory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32 KB RAM, up to 4 MB Flash – enough for basic control and data 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Interfaces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UART (for LiDAR/Serial), I2C (sensors), PWM (for motors), ADC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Role in Project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Collects LiDAR distance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Sends obstacle info to central controller or server via Wi-Fi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Receives remote commands (start/stop/control)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Programming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Arduino IDE – simple integration with sensors and logic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</p:txBody>
      </p:sp>
      <p:pic>
        <p:nvPicPr>
          <p:cNvPr id="4" name="Picture 3" descr="Buy L298N Based Motor Driver Module – 2A Online at Robu.in">
            <a:extLst>
              <a:ext uri="{FF2B5EF4-FFF2-40B4-BE49-F238E27FC236}">
                <a16:creationId xmlns:a16="http://schemas.microsoft.com/office/drawing/2014/main" id="{D6F78460-30C7-FD95-AE3F-5305936F5C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5" b="11252"/>
          <a:stretch>
            <a:fillRect/>
          </a:stretch>
        </p:blipFill>
        <p:spPr bwMode="auto">
          <a:xfrm>
            <a:off x="8553495" y="4709651"/>
            <a:ext cx="3197173" cy="19607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C1D8D0D-7C75-2E35-FFB4-E386AC87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052" y="70498"/>
            <a:ext cx="4105948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Garamond" panose="02020404030301010803" pitchFamily="18" charset="0"/>
              </a:rPr>
              <a:t>Motor Driver: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Function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Controls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DC motors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stepper motors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in both directions (forward/reverse)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Dual H-Bridge Motor Driver 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Voltage Range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Motor supply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5V–35V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Logic supply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5V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Current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Up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2A per channel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Channels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Controls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2 motors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independently (left &amp; right wheels of trolley)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Inputs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Takes control signals from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microcontroller (ESP8266/Arduino)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IN1, IN2, IN3, IN4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for direction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ENA &amp; ENB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enable/disable motors (can be PWM for speed control)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 in Project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Drives the trolley motors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Executes movement decisions based on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LiDAR data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Supports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directional control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for obstacle avoidance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7DDC79-9949-2743-17F9-999F1FF26BC2}"/>
              </a:ext>
            </a:extLst>
          </p:cNvPr>
          <p:cNvSpPr txBox="1"/>
          <p:nvPr/>
        </p:nvSpPr>
        <p:spPr>
          <a:xfrm>
            <a:off x="4671567" y="70498"/>
            <a:ext cx="350519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b="1" dirty="0">
                <a:latin typeface="Garamond" panose="02020404030301010803" pitchFamily="18" charset="0"/>
              </a:rPr>
              <a:t>LiDAR Sensor: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Full Form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Light Detection and Ranging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Function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Measures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distance to objects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using laser light (usually infrared) and Provides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real-time obstacle detection and mapping.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Working Principle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 Emits laser pulses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Measures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time taken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for reflection to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Calculates distance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Time-of-Flight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ToF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Output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Provides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precise distance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in cm/mm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Interfaces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Communicates via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I2C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,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PWM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Easily integrated with microcontrollers like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ESP8266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 in Project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Detects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obstacles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in front of the trolley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Sends real-time distance data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ESP8266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Enables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collision avoidance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by controlling motor driver (L298N)</a:t>
            </a:r>
          </a:p>
        </p:txBody>
      </p:sp>
      <p:pic>
        <p:nvPicPr>
          <p:cNvPr id="9" name="Picture 8" descr="GY-530 VL53L0X Time of Flight Distance ...">
            <a:extLst>
              <a:ext uri="{FF2B5EF4-FFF2-40B4-BE49-F238E27FC236}">
                <a16:creationId xmlns:a16="http://schemas.microsoft.com/office/drawing/2014/main" id="{E16B269B-9BD3-CCA3-88B8-FCA48CFAE1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8" t="23370" r="26388" b="28423"/>
          <a:stretch/>
        </p:blipFill>
        <p:spPr bwMode="auto">
          <a:xfrm>
            <a:off x="4945241" y="4709652"/>
            <a:ext cx="2645262" cy="19607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12590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CF02D5-206F-AE15-7872-4CB85A5D5DD2}"/>
              </a:ext>
            </a:extLst>
          </p:cNvPr>
          <p:cNvSpPr txBox="1"/>
          <p:nvPr/>
        </p:nvSpPr>
        <p:spPr>
          <a:xfrm>
            <a:off x="891458" y="334478"/>
            <a:ext cx="2512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Garamond" panose="02020404030301010803" pitchFamily="18" charset="0"/>
                <a:ea typeface="PT Serif" pitchFamily="34" charset="-122"/>
                <a:cs typeface="PT Serif" pitchFamily="34" charset="-120"/>
              </a:rPr>
              <a:t>Circuit Diagram: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09A4A-72FE-DEB1-6B49-A96E282D0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7" t="19068" r="24839" b="24731"/>
          <a:stretch>
            <a:fillRect/>
          </a:stretch>
        </p:blipFill>
        <p:spPr>
          <a:xfrm>
            <a:off x="1209368" y="703810"/>
            <a:ext cx="10746657" cy="581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3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8E86E-EC95-2368-EADB-17A1A999B43F}"/>
              </a:ext>
            </a:extLst>
          </p:cNvPr>
          <p:cNvSpPr txBox="1"/>
          <p:nvPr/>
        </p:nvSpPr>
        <p:spPr>
          <a:xfrm>
            <a:off x="776749" y="483928"/>
            <a:ext cx="3175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Garamond" panose="02020404030301010803" pitchFamily="18" charset="0"/>
              </a:rPr>
              <a:t>Flowchart and Working: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53FE36-47C8-DEB1-DF32-4A86E7ABC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71" y="108154"/>
            <a:ext cx="8165504" cy="6874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701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E737A-342B-F954-395A-036904149BC5}"/>
              </a:ext>
            </a:extLst>
          </p:cNvPr>
          <p:cNvSpPr txBox="1"/>
          <p:nvPr/>
        </p:nvSpPr>
        <p:spPr>
          <a:xfrm>
            <a:off x="353962" y="457401"/>
            <a:ext cx="3598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Garamond" panose="02020404030301010803" pitchFamily="18" charset="0"/>
                <a:cs typeface="Arial" pitchFamily="34" charset="0"/>
              </a:rPr>
              <a:t>Challenges and Risks: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E8D67-FD4E-E720-C10D-9EC6F61F9151}"/>
              </a:ext>
            </a:extLst>
          </p:cNvPr>
          <p:cNvSpPr txBox="1"/>
          <p:nvPr/>
        </p:nvSpPr>
        <p:spPr>
          <a:xfrm>
            <a:off x="4267200" y="457401"/>
            <a:ext cx="4247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ＭＳ Ｐゴシック" pitchFamily="1" charset="-128"/>
                <a:cs typeface="Arial" pitchFamily="34" charset="0"/>
              </a:rPr>
              <a:t> for overcoming these challenges: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C7ADC4-2147-27CA-DAFE-180FCE042B77}"/>
              </a:ext>
            </a:extLst>
          </p:cNvPr>
          <p:cNvSpPr txBox="1"/>
          <p:nvPr/>
        </p:nvSpPr>
        <p:spPr>
          <a:xfrm>
            <a:off x="8721213" y="457401"/>
            <a:ext cx="1924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Garamond" panose="02020404030301010803" pitchFamily="18" charset="0"/>
                <a:cs typeface="Arial" pitchFamily="34" charset="0"/>
              </a:rPr>
              <a:t>Benefits:</a:t>
            </a:r>
            <a:endParaRPr lang="en-IN" sz="2800" b="1" dirty="0">
              <a:latin typeface="Garamond" panose="02020404030301010803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85833A-0F5B-7601-171C-C5B571A8589B}"/>
              </a:ext>
            </a:extLst>
          </p:cNvPr>
          <p:cNvSpPr/>
          <p:nvPr/>
        </p:nvSpPr>
        <p:spPr>
          <a:xfrm>
            <a:off x="137653" y="314632"/>
            <a:ext cx="3814916" cy="60859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C7F81AF-BBC5-661B-341A-41322429A8AC}"/>
              </a:ext>
            </a:extLst>
          </p:cNvPr>
          <p:cNvSpPr/>
          <p:nvPr/>
        </p:nvSpPr>
        <p:spPr>
          <a:xfrm>
            <a:off x="4060723" y="329581"/>
            <a:ext cx="4247536" cy="60710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3DA650-854D-D741-C0E8-332C1E23ECBB}"/>
              </a:ext>
            </a:extLst>
          </p:cNvPr>
          <p:cNvSpPr/>
          <p:nvPr/>
        </p:nvSpPr>
        <p:spPr>
          <a:xfrm>
            <a:off x="8416413" y="329581"/>
            <a:ext cx="3706761" cy="607101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93384-261D-8909-9B86-B682C381E6AE}"/>
              </a:ext>
            </a:extLst>
          </p:cNvPr>
          <p:cNvSpPr txBox="1"/>
          <p:nvPr/>
        </p:nvSpPr>
        <p:spPr>
          <a:xfrm>
            <a:off x="353962" y="1547073"/>
            <a:ext cx="3557348" cy="379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Sensor interference</a:t>
            </a:r>
            <a:r>
              <a:rPr lang="en-US" dirty="0">
                <a:latin typeface="Garamond" panose="02020404030301010803" pitchFamily="18" charset="0"/>
              </a:rPr>
              <a:t> in highly reflective environments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Battery drain</a:t>
            </a:r>
            <a:r>
              <a:rPr lang="en-US" dirty="0">
                <a:latin typeface="Garamond" panose="02020404030301010803" pitchFamily="18" charset="0"/>
              </a:rPr>
              <a:t> with continuous operation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Limited path correction </a:t>
            </a:r>
            <a:r>
              <a:rPr lang="en-US" dirty="0">
                <a:latin typeface="Garamond" panose="02020404030301010803" pitchFamily="18" charset="0"/>
              </a:rPr>
              <a:t>(due to predefined time-based movement)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Garamond" panose="02020404030301010803" pitchFamily="18" charset="0"/>
              </a:rPr>
              <a:t>Real-time accuracy</a:t>
            </a:r>
            <a:r>
              <a:rPr lang="en-US" dirty="0">
                <a:latin typeface="Garamond" panose="02020404030301010803" pitchFamily="18" charset="0"/>
              </a:rPr>
              <a:t> under dynamic environments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286333-F678-0EC4-C8D2-9F720EBF5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619" y="1547073"/>
            <a:ext cx="4064705" cy="2961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multiple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(like IR or ultrasonic) for redundancy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Optimize power management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PID or encoder-based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for dynamic navigation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Future upgrade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SLAM-based navigation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DF5673E-51EB-170D-E522-6CCCCE3E4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4735" y="1547073"/>
            <a:ext cx="3677265" cy="2961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Reduced human effort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Improved 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 in narrow/crowded areas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Useful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campuses, warehouses, hospitals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Scalable and modular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Eco-friendly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aramond" panose="02020404030301010803" pitchFamily="18" charset="0"/>
              </a:rPr>
              <a:t>energy-efficient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52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4DFC3-9F8E-4CCE-F5BC-30F93CFBFB47}"/>
              </a:ext>
            </a:extLst>
          </p:cNvPr>
          <p:cNvSpPr txBox="1"/>
          <p:nvPr/>
        </p:nvSpPr>
        <p:spPr>
          <a:xfrm>
            <a:off x="797068" y="40658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Garamond" panose="02020404030301010803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References: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55269-04DE-ED64-D8D2-01ED1119A93D}"/>
              </a:ext>
            </a:extLst>
          </p:cNvPr>
          <p:cNvSpPr txBox="1"/>
          <p:nvPr/>
        </p:nvSpPr>
        <p:spPr>
          <a:xfrm>
            <a:off x="378727" y="991355"/>
            <a:ext cx="112538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Navigation Control Design of a Mobile Robot by Integrating Obstacle Avoidance and LiDAR SLAM</a:t>
            </a:r>
            <a:br>
              <a:rPr lang="en-US" dirty="0"/>
            </a:br>
            <a:r>
              <a:rPr lang="en-US" dirty="0">
                <a:hlinkClick r:id="rId2"/>
              </a:rPr>
              <a:t>https://ieeexplore.ieee.org/document/8570517/</a:t>
            </a:r>
            <a:br>
              <a:rPr lang="en-US" dirty="0"/>
            </a:br>
            <a:r>
              <a:rPr lang="en-US" dirty="0"/>
              <a:t>Published in: </a:t>
            </a:r>
            <a:r>
              <a:rPr lang="en-US" b="1" dirty="0"/>
              <a:t>2018 IEEE International Conference on Systems, Man, and Cybernetics (SMC)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u="sng" dirty="0">
              <a:solidFill>
                <a:srgbClr val="006699"/>
              </a:solidFill>
              <a:latin typeface="HelveticaNeue Regula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3D LiDAR‑Based Lane Line Recognition and Obstacle Avoidance for Autonomous Mobile Robot</a:t>
            </a:r>
            <a:br>
              <a:rPr lang="en-US" dirty="0"/>
            </a:br>
            <a:r>
              <a:rPr lang="en-US" dirty="0">
                <a:hlinkClick r:id="rId3"/>
              </a:rPr>
              <a:t>https://ieeexplore.ieee.org/document/10805213/</a:t>
            </a:r>
            <a:br>
              <a:rPr lang="en-US" dirty="0"/>
            </a:br>
            <a:r>
              <a:rPr lang="en-US" dirty="0"/>
              <a:t>Published in: </a:t>
            </a:r>
            <a:r>
              <a:rPr lang="en-US" b="1" dirty="0"/>
              <a:t>2023 (IEEE Conference)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Novel Algorithm for Autonomous Obstacle-Avoidance Based on LiDAR Data</a:t>
            </a:r>
            <a:br>
              <a:rPr lang="en-IN" dirty="0"/>
            </a:br>
            <a:r>
              <a:rPr lang="en-IN" dirty="0">
                <a:hlinkClick r:id="rId4"/>
              </a:rPr>
              <a:t>https://ieeexplore.ieee.org/document/7419694/</a:t>
            </a:r>
            <a:br>
              <a:rPr lang="en-IN" dirty="0"/>
            </a:br>
            <a:r>
              <a:rPr lang="en-IN" dirty="0"/>
              <a:t>Published in: </a:t>
            </a:r>
            <a:r>
              <a:rPr lang="en-IN" b="1" dirty="0"/>
              <a:t>2015 IEEE Conference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LiDAR‑based Obstacle Avoidance for the Autonomous Mobile Robot</a:t>
            </a:r>
            <a:br>
              <a:rPr lang="en-US" dirty="0"/>
            </a:br>
            <a:r>
              <a:rPr lang="en-US" dirty="0">
                <a:hlinkClick r:id="rId5"/>
              </a:rPr>
              <a:t>https://ieeexplore.ieee.org/document/8850952/</a:t>
            </a:r>
            <a:br>
              <a:rPr lang="en-US" dirty="0"/>
            </a:br>
            <a:r>
              <a:rPr lang="en-US" dirty="0"/>
              <a:t>Published in: </a:t>
            </a:r>
            <a:r>
              <a:rPr lang="en-US" b="1" dirty="0"/>
              <a:t>2020 IEEE Conference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Finite Distribution Estimation‑Based Dynamic Window Approach to Reliable Obstacle Avoidance of Mobile Robot</a:t>
            </a:r>
            <a:br>
              <a:rPr lang="en-US" dirty="0"/>
            </a:br>
            <a:r>
              <a:rPr lang="en-US" dirty="0">
                <a:hlinkClick r:id="rId6"/>
              </a:rPr>
              <a:t>https://ieeexplore.ieee.org/document/9428945/</a:t>
            </a:r>
            <a:br>
              <a:rPr lang="en-US" dirty="0"/>
            </a:br>
            <a:r>
              <a:rPr lang="en-US" dirty="0"/>
              <a:t>Published in: </a:t>
            </a:r>
            <a:r>
              <a:rPr lang="en-US" b="1" dirty="0"/>
              <a:t>2021 IEEE Transactions on Industrial Electronics</a:t>
            </a:r>
            <a:endParaRPr lang="en-IN" b="1" dirty="0">
              <a:solidFill>
                <a:schemeClr val="accent1"/>
              </a:solidFill>
              <a:latin typeface="HelveticaNeue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0783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794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Garamond</vt:lpstr>
      <vt:lpstr>HelveticaNeue 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Saii Jadhav</dc:creator>
  <cp:lastModifiedBy>Saii Jadhav</cp:lastModifiedBy>
  <cp:revision>6</cp:revision>
  <dcterms:created xsi:type="dcterms:W3CDTF">2025-06-25T07:32:02Z</dcterms:created>
  <dcterms:modified xsi:type="dcterms:W3CDTF">2025-06-26T18:06:29Z</dcterms:modified>
</cp:coreProperties>
</file>